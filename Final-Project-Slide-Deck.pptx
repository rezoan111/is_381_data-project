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3557"/>
                </a:solidFill>
              </a:defRPr>
            </a:pPr>
            <a:r>
              <a:t>Final Project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Do chocolate candies have a higher average win percent than non-chocolate candies?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5212080" cy="2011680"/>
          </a:xfrm>
          <a:prstGeom prst="roundRect">
            <a:avLst/>
          </a:prstGeom>
          <a:solidFill>
            <a:srgbClr val="E6F0FA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D3557"/>
                </a:solidFill>
              </a:defRPr>
            </a:pPr>
            <a:r>
              <a:t>Prepared by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Rezoan Ishteaque Hossain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IS 381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May 17,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40280"/>
            <a:ext cx="4937760" cy="2011680"/>
          </a:xfrm>
          <a:prstGeom prst="roundRect">
            <a:avLst/>
          </a:prstGeom>
          <a:solidFill>
            <a:srgbClr val="F4F8FC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D3557"/>
                </a:solidFill>
              </a:defRPr>
            </a:pPr>
            <a:r>
              <a:t>Method used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Public FiveThirtyEight candy dataset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Response variable: winpercent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Main explanatory variable: chocolate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Test: one-sided Welch two-sample t-test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Rezoan Ishteaque Hossain • IS 381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3557"/>
                </a:solidFill>
              </a:rPr>
              <a:t>Overview of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577840" cy="41148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data comes from the FiveThirtyEight candy dataset.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The cases are individual candies, and there are 85 candy types in the dataset.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This is an observational study because the data was already collected.</a:t>
            </a:r>
          </a:p>
          <a:p>
            <a:pPr>
              <a:spcAft>
                <a:spcPts val="600"/>
              </a:spcAft>
              <a:defRPr sz="1800">
                <a:solidFill>
                  <a:srgbClr val="212529"/>
                </a:solidFill>
              </a:defRPr>
            </a:pPr>
            <a:r>
              <a:t>Research question: Do chocolate candies have a higher average win percent than non-chocolate candies?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051560"/>
            <a:ext cx="4663440" cy="1417320"/>
          </a:xfrm>
          <a:prstGeom prst="roundRect">
            <a:avLst/>
          </a:prstGeom>
          <a:solidFill>
            <a:srgbClr val="E6F0FA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Dependent variable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winpercent — numerical; shows the win percent for each candy.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2697480"/>
            <a:ext cx="4663440" cy="1417320"/>
          </a:xfrm>
          <a:prstGeom prst="roundRect">
            <a:avLst/>
          </a:prstGeom>
          <a:solidFill>
            <a:srgbClr val="E6F0FA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Independent variables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chocolate — categorical (0 = no, 1 = yes)</a:t>
            </a:r>
            <a:br/>
            <a:r>
              <a:t>fruity — categorical (0 = no, 1 = yes)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4343400"/>
            <a:ext cx="4663440" cy="1051560"/>
          </a:xfrm>
          <a:prstGeom prst="roundRect">
            <a:avLst/>
          </a:prstGeom>
          <a:solidFill>
            <a:srgbClr val="E6F0FA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Why this matters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This analysis shows whether chocolate is associated with stronger candy ratings.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Rezoan Ishteaque Hossain • IS 381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3557"/>
                </a:solidFill>
              </a:rPr>
              <a:t>Summary Statistics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75895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1005840"/>
                <a:gridCol w="1097280"/>
                <a:gridCol w="914400"/>
                <a:gridCol w="91440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marL="50800" marR="50800" marT="25400" marB="25400"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marL="50800" marR="50800" marT="25400" marB="25400"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 marL="50800" marR="50800" marT="25400" marB="25400"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 marL="50800" marR="50800" marT="25400" marB="25400"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SD</a:t>
                      </a:r>
                    </a:p>
                  </a:txBody>
                  <a:tcPr marL="50800" marR="50800" marT="25400" marB="25400"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 marL="50800" marR="50800" marT="25400" marB="25400"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 marL="50800" marR="50800" marT="25400" marB="25400">
                    <a:solidFill>
                      <a:srgbClr val="1D35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Non-chocolate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42.14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41.65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10.22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22.45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67.04</a:t>
                      </a:r>
                    </a:p>
                  </a:txBody>
                  <a:tcPr marL="50800" marR="50800" marT="25400" marB="25400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Chocolate</a:t>
                      </a:r>
                    </a:p>
                  </a:txBody>
                  <a:tcPr marL="50800" marR="50800" marT="25400" marB="25400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marL="50800" marR="50800" marT="25400" marB="25400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60.92</a:t>
                      </a:r>
                    </a:p>
                  </a:txBody>
                  <a:tcPr marL="50800" marR="50800" marT="25400" marB="25400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60.80</a:t>
                      </a:r>
                    </a:p>
                  </a:txBody>
                  <a:tcPr marL="50800" marR="50800" marT="25400" marB="25400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12.81</a:t>
                      </a:r>
                    </a:p>
                  </a:txBody>
                  <a:tcPr marL="50800" marR="50800" marT="25400" marB="25400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34.72</a:t>
                      </a:r>
                    </a:p>
                  </a:txBody>
                  <a:tcPr marL="50800" marR="50800" marT="25400" marB="25400"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84.18</a:t>
                      </a:r>
                    </a:p>
                  </a:txBody>
                  <a:tcPr marL="50800" marR="50800" marT="25400" marB="25400">
                    <a:solidFill>
                      <a:srgbClr val="ECF2F8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68680" y="3246120"/>
            <a:ext cx="5074920" cy="1417320"/>
          </a:xfrm>
          <a:prstGeom prst="roundRect">
            <a:avLst/>
          </a:prstGeom>
          <a:solidFill>
            <a:srgbClr val="E9F5E9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Key finding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Chocolate candies have a much higher average win percent.</a:t>
            </a:r>
            <a:br/>
            <a:r>
              <a:t>Mean winpercent: 60.92 vs. 42.14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3246120"/>
            <a:ext cx="5074920" cy="1417320"/>
          </a:xfrm>
          <a:prstGeom prst="roundRect">
            <a:avLst/>
          </a:prstGeom>
          <a:solidFill>
            <a:srgbClr val="F4F8FC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What the table suggests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The higher mean and median for chocolate candies suggest they tend to perform better in this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Rezoan Ishteaque Hossain • IS 381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3557"/>
                </a:solidFill>
              </a:rPr>
              <a:t>Visualization 1: Boxplot</a:t>
            </a:r>
          </a:p>
        </p:txBody>
      </p:sp>
      <p:pic>
        <p:nvPicPr>
          <p:cNvPr id="3" name="Picture 2" descr="boxplot_winper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032826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1417320"/>
            <a:ext cx="3657600" cy="1508760"/>
          </a:xfrm>
          <a:prstGeom prst="roundRect">
            <a:avLst/>
          </a:prstGeom>
          <a:solidFill>
            <a:srgbClr val="E6F0FA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What it shows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The center of the chocolate group is clearly higher than the center of the non-chocolate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3246120"/>
            <a:ext cx="3657600" cy="1508760"/>
          </a:xfrm>
          <a:prstGeom prst="roundRect">
            <a:avLst/>
          </a:prstGeom>
          <a:solidFill>
            <a:srgbClr val="E6F0FA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Interpretation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Chocolate candies generally have higher win percent values than non-chocolate candies.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Rezoan Ishteaque Hossain • IS 381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3557"/>
                </a:solidFill>
              </a:rPr>
              <a:t>Visualization 2: Histogram</a:t>
            </a:r>
          </a:p>
        </p:txBody>
      </p:sp>
      <p:pic>
        <p:nvPicPr>
          <p:cNvPr id="3" name="Picture 2" descr="Distribution of Win Per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43000"/>
            <a:ext cx="7032826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554480"/>
            <a:ext cx="3383280" cy="1371600"/>
          </a:xfrm>
          <a:prstGeom prst="roundRect">
            <a:avLst/>
          </a:prstGeom>
          <a:solidFill>
            <a:srgbClr val="E6F0FA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Overall distribution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Most candies are grouped in the middle range of win percent.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3246120"/>
            <a:ext cx="3383280" cy="1371600"/>
          </a:xfrm>
          <a:prstGeom prst="roundRect">
            <a:avLst/>
          </a:prstGeom>
          <a:solidFill>
            <a:srgbClr val="E6F0FA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Takeaway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There are fewer candies at the very low and very high ends.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Rezoan Ishteaque Hossain • IS 381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3557"/>
                </a:solidFill>
              </a:rPr>
              <a:t>Statistical Output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5394960" cy="1234440"/>
          </a:xfrm>
          <a:prstGeom prst="roundRect">
            <a:avLst/>
          </a:prstGeom>
          <a:solidFill>
            <a:srgbClr val="E6F0FA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Hypotheses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H0: The mean win percent is the same for chocolate and non-chocolate candies.</a:t>
            </a:r>
            <a:br/>
            <a:r>
              <a:t>H1: Chocolate candies have a higher mean win percent.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97480"/>
            <a:ext cx="5394960" cy="2011680"/>
          </a:xfrm>
          <a:prstGeom prst="roundRect">
            <a:avLst/>
          </a:prstGeom>
          <a:solidFill>
            <a:srgbClr val="F4F8FC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D3557"/>
                </a:solidFill>
              </a:defRPr>
            </a:pPr>
            <a:r>
              <a:t>Welch two-sample t-test results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t = 7.3031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df = 67.539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p-value = 2.082e-10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95% lower confidence bound = 14.49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143000"/>
            <a:ext cx="4663440" cy="1463040"/>
          </a:xfrm>
          <a:prstGeom prst="roundRect">
            <a:avLst/>
          </a:prstGeom>
          <a:solidFill>
            <a:srgbClr val="E9F5E9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Sample means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Chocolate: 60.92</a:t>
            </a:r>
            <a:br/>
            <a:r>
              <a:t>Non-chocolate: 42.14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971800"/>
            <a:ext cx="4663440" cy="1737360"/>
          </a:xfrm>
          <a:prstGeom prst="roundRect">
            <a:avLst/>
          </a:prstGeom>
          <a:solidFill>
            <a:srgbClr val="FCF5EB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Decision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Because the p-value is far below 0.05, reject the null hypothesis.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4983480"/>
            <a:ext cx="4663440" cy="822960"/>
          </a:xfrm>
          <a:prstGeom prst="roundRect">
            <a:avLst/>
          </a:prstGeom>
          <a:solidFill>
            <a:srgbClr val="F4F8FC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Interpretation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There is very strong statistical evidence that chocolate candies have a higher average win percent.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Rezoan Ishteaque Hossain • IS 381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3557"/>
                </a:solidFill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5303520" cy="1920240"/>
          </a:xfrm>
          <a:prstGeom prst="roundRect">
            <a:avLst/>
          </a:prstGeom>
          <a:solidFill>
            <a:srgbClr val="E9F5E9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Answer to the research question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Yes. Based on the summary statistics, the graphs, and the one-sided Welch t-test, chocolate candies have a higher average win percent in this dataset.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143000"/>
            <a:ext cx="4983480" cy="1920240"/>
          </a:xfrm>
          <a:prstGeom prst="roundRect">
            <a:avLst/>
          </a:prstGeom>
          <a:solidFill>
            <a:srgbClr val="F4F8FC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Why this matters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This project shows that one candy characteristic, chocolate, is associated with stronger overall candy ratings.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5303520" cy="1554480"/>
          </a:xfrm>
          <a:prstGeom prst="roundRect">
            <a:avLst/>
          </a:prstGeom>
          <a:solidFill>
            <a:srgbClr val="FCF5EB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Limitations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This dataset includes 85 candies only, and the study is observational. It shows association, not causation.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3566160"/>
            <a:ext cx="4983480" cy="1554480"/>
          </a:xfrm>
          <a:prstGeom prst="roundRect">
            <a:avLst/>
          </a:prstGeom>
          <a:solidFill>
            <a:srgbClr val="F4F8FC"/>
          </a:solidFill>
          <a:ln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D3557"/>
                </a:solidFill>
              </a:defRPr>
            </a:pPr>
            <a:r>
              <a:t>Final takeaway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Overall, chocolate candies tend to perform better than non-chocolate candies in terms of win percent.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C"/>
                </a:solidFill>
              </a:defRPr>
            </a:pPr>
            <a:r>
              <a:t>Rezoan Ishteaque Hossain • IS 381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